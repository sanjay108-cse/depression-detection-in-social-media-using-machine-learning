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56" r:id="rId5"/>
    <p:sldId id="257" r:id="rId6"/>
    <p:sldId id="260" r:id="rId7"/>
    <p:sldId id="290" r:id="rId8"/>
    <p:sldId id="294" r:id="rId9"/>
    <p:sldId id="291" r:id="rId10"/>
    <p:sldId id="286" r:id="rId11"/>
    <p:sldId id="287" r:id="rId12"/>
    <p:sldId id="289" r:id="rId13"/>
    <p:sldId id="292" r:id="rId14"/>
    <p:sldId id="264" r:id="rId15"/>
    <p:sldId id="293"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36D5C4-BD4D-4E17-A1E5-8BB1E2882079}" v="3" dt="2026-04-02T09:54:24.1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 SANJAY" userId="fee5094a99a0eef8" providerId="LiveId" clId="{8C150BB2-9218-488B-B012-E3F261622E26}"/>
    <pc:docChg chg="undo custSel modSld">
      <pc:chgData name="S SANJAY" userId="fee5094a99a0eef8" providerId="LiveId" clId="{8C150BB2-9218-488B-B012-E3F261622E26}" dt="2026-04-02T09:54:24.113" v="124"/>
      <pc:docMkLst>
        <pc:docMk/>
      </pc:docMkLst>
      <pc:sldChg chg="addSp modSp mod">
        <pc:chgData name="S SANJAY" userId="fee5094a99a0eef8" providerId="LiveId" clId="{8C150BB2-9218-488B-B012-E3F261622E26}" dt="2026-04-02T09:51:08.652" v="122" actId="1076"/>
        <pc:sldMkLst>
          <pc:docMk/>
          <pc:sldMk cId="3946934594" sldId="256"/>
        </pc:sldMkLst>
        <pc:spChg chg="mod">
          <ac:chgData name="S SANJAY" userId="fee5094a99a0eef8" providerId="LiveId" clId="{8C150BB2-9218-488B-B012-E3F261622E26}" dt="2026-04-01T09:23:28.288" v="70" actId="20577"/>
          <ac:spMkLst>
            <pc:docMk/>
            <pc:sldMk cId="3946934594" sldId="256"/>
            <ac:spMk id="3" creationId="{0D537F64-4C96-4AA8-BB21-E8053A3186DD}"/>
          </ac:spMkLst>
        </pc:spChg>
        <pc:spChg chg="add mod">
          <ac:chgData name="S SANJAY" userId="fee5094a99a0eef8" providerId="LiveId" clId="{8C150BB2-9218-488B-B012-E3F261622E26}" dt="2026-04-02T09:51:08.652" v="122" actId="1076"/>
          <ac:spMkLst>
            <pc:docMk/>
            <pc:sldMk cId="3946934594" sldId="256"/>
            <ac:spMk id="4" creationId="{F9FB0245-2329-B495-0E61-AEC4A2A4AC30}"/>
          </ac:spMkLst>
        </pc:spChg>
      </pc:sldChg>
      <pc:sldChg chg="modSp">
        <pc:chgData name="S SANJAY" userId="fee5094a99a0eef8" providerId="LiveId" clId="{8C150BB2-9218-488B-B012-E3F261622E26}" dt="2026-04-02T09:54:24.113" v="124"/>
        <pc:sldMkLst>
          <pc:docMk/>
          <pc:sldMk cId="1155161988" sldId="289"/>
        </pc:sldMkLst>
        <pc:spChg chg="mod">
          <ac:chgData name="S SANJAY" userId="fee5094a99a0eef8" providerId="LiveId" clId="{8C150BB2-9218-488B-B012-E3F261622E26}" dt="2026-04-02T09:54:24.113" v="124"/>
          <ac:spMkLst>
            <pc:docMk/>
            <pc:sldMk cId="1155161988" sldId="289"/>
            <ac:spMk id="8" creationId="{5D015F93-45EC-F1C2-C5C5-7085FBDB829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4/2/2026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4/2/2026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1669805" y="387221"/>
            <a:ext cx="9023075" cy="3041779"/>
          </a:xfrm>
        </p:spPr>
        <p:txBody>
          <a:bodyPr/>
          <a:lstStyle/>
          <a:p>
            <a:pPr algn="ctr"/>
            <a:r>
              <a:rPr lang="en-US" sz="4800" dirty="0">
                <a:solidFill>
                  <a:srgbClr val="FFFF00"/>
                </a:solidFill>
                <a:latin typeface="Times New Roman" panose="02020603050405020304" pitchFamily="18" charset="0"/>
                <a:cs typeface="Times New Roman" panose="02020603050405020304" pitchFamily="18" charset="0"/>
              </a:rPr>
              <a:t>DEPRESSION DETECTION IN SOCIAL MEDIA USING MACHINE LEARNING</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3615424" y="3637632"/>
            <a:ext cx="5696527" cy="868680"/>
          </a:xfrm>
        </p:spPr>
        <p:txBody>
          <a:bodyPr/>
          <a:lstStyle/>
          <a:p>
            <a:r>
              <a:rPr lang="en-IN" dirty="0"/>
              <a:t>(ML-Based | Flask + React )</a:t>
            </a:r>
            <a:endParaRPr lang="en-US" dirty="0"/>
          </a:p>
        </p:txBody>
      </p:sp>
      <p:sp>
        <p:nvSpPr>
          <p:cNvPr id="5" name="TextBox 4">
            <a:extLst>
              <a:ext uri="{FF2B5EF4-FFF2-40B4-BE49-F238E27FC236}">
                <a16:creationId xmlns:a16="http://schemas.microsoft.com/office/drawing/2014/main" id="{96F34E1B-0D24-F472-3985-D4D140508970}"/>
              </a:ext>
            </a:extLst>
          </p:cNvPr>
          <p:cNvSpPr txBox="1"/>
          <p:nvPr/>
        </p:nvSpPr>
        <p:spPr>
          <a:xfrm>
            <a:off x="-370892" y="5088568"/>
            <a:ext cx="6106884" cy="1361911"/>
          </a:xfrm>
          <a:prstGeom prst="rect">
            <a:avLst/>
          </a:prstGeom>
          <a:noFill/>
        </p:spPr>
        <p:txBody>
          <a:bodyPr wrap="square">
            <a:spAutoFit/>
          </a:bodyPr>
          <a:lstStyle/>
          <a:p>
            <a:pPr algn="ctr"/>
            <a:r>
              <a:rPr lang="en-IN" dirty="0">
                <a:solidFill>
                  <a:schemeClr val="bg1"/>
                </a:solidFill>
                <a:cs typeface="Segoe UI" panose="020B0502040204020203" pitchFamily="34" charset="0"/>
              </a:rPr>
              <a:t>PRESENTED BY</a:t>
            </a:r>
          </a:p>
          <a:p>
            <a:pPr algn="ctr"/>
            <a:r>
              <a:rPr lang="en-IN" sz="1050" dirty="0">
                <a:solidFill>
                  <a:schemeClr val="bg1"/>
                </a:solidFill>
                <a:cs typeface="Segoe UI" panose="020B0502040204020203" pitchFamily="34" charset="0"/>
              </a:rPr>
              <a:t> </a:t>
            </a:r>
          </a:p>
          <a:p>
            <a:pPr algn="ctr"/>
            <a:r>
              <a:rPr lang="en-IN" dirty="0">
                <a:solidFill>
                  <a:schemeClr val="bg1"/>
                </a:solidFill>
                <a:cs typeface="Segoe UI" panose="020B0502040204020203" pitchFamily="34" charset="0"/>
              </a:rPr>
              <a:t> GOKULRAJ P – 810022104099</a:t>
            </a:r>
          </a:p>
          <a:p>
            <a:pPr algn="ctr"/>
            <a:r>
              <a:rPr lang="en-IN" dirty="0">
                <a:solidFill>
                  <a:schemeClr val="bg1"/>
                </a:solidFill>
                <a:cs typeface="Segoe UI" panose="020B0502040204020203" pitchFamily="34" charset="0"/>
              </a:rPr>
              <a:t>SANJAY S - 810022104108</a:t>
            </a:r>
          </a:p>
          <a:p>
            <a:pPr algn="ctr"/>
            <a:endParaRPr lang="en-IN" dirty="0">
              <a:solidFill>
                <a:schemeClr val="bg1"/>
              </a:solidFill>
              <a:cs typeface="Segoe UI" panose="020B0502040204020203" pitchFamily="34" charset="0"/>
            </a:endParaRPr>
          </a:p>
        </p:txBody>
      </p:sp>
      <p:sp>
        <p:nvSpPr>
          <p:cNvPr id="4" name="TextBox 3">
            <a:extLst>
              <a:ext uri="{FF2B5EF4-FFF2-40B4-BE49-F238E27FC236}">
                <a16:creationId xmlns:a16="http://schemas.microsoft.com/office/drawing/2014/main" id="{F9FB0245-2329-B495-0E61-AEC4A2A4AC30}"/>
              </a:ext>
            </a:extLst>
          </p:cNvPr>
          <p:cNvSpPr txBox="1"/>
          <p:nvPr/>
        </p:nvSpPr>
        <p:spPr>
          <a:xfrm>
            <a:off x="9115158" y="5446357"/>
            <a:ext cx="2521527" cy="646331"/>
          </a:xfrm>
          <a:prstGeom prst="rect">
            <a:avLst/>
          </a:prstGeom>
          <a:noFill/>
        </p:spPr>
        <p:txBody>
          <a:bodyPr wrap="square" rtlCol="0">
            <a:spAutoFit/>
          </a:bodyPr>
          <a:lstStyle/>
          <a:p>
            <a:pPr algn="ctr"/>
            <a:r>
              <a:rPr lang="en-US" b="1" dirty="0">
                <a:solidFill>
                  <a:schemeClr val="bg1"/>
                </a:solidFill>
              </a:rPr>
              <a:t>Guided  By</a:t>
            </a:r>
          </a:p>
          <a:p>
            <a:pPr algn="ctr"/>
            <a:r>
              <a:rPr lang="en-US" dirty="0" err="1">
                <a:solidFill>
                  <a:schemeClr val="bg1"/>
                </a:solidFill>
                <a:latin typeface="Aharoni" panose="02010803020104030203" pitchFamily="2" charset="-79"/>
                <a:cs typeface="Aharoni" panose="02010803020104030203" pitchFamily="2" charset="-79"/>
              </a:rPr>
              <a:t>Dr.G.ANNAPOORANI</a:t>
            </a:r>
            <a:endParaRPr lang="en-IN" dirty="0">
              <a:solidFill>
                <a:schemeClr val="bg1"/>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4237522" y="344913"/>
            <a:ext cx="3059016" cy="859055"/>
          </a:xfrm>
        </p:spPr>
        <p:txBody>
          <a:bodyPr>
            <a:normAutofit/>
          </a:bodyPr>
          <a:lstStyle/>
          <a:p>
            <a:r>
              <a:rPr lang="en-IN" dirty="0">
                <a:solidFill>
                  <a:schemeClr val="accent1">
                    <a:lumMod val="60000"/>
                    <a:lumOff val="40000"/>
                  </a:schemeClr>
                </a:solidFill>
              </a:rPr>
              <a:t>Abstract</a:t>
            </a:r>
            <a:endParaRPr lang="en-US" dirty="0">
              <a:solidFill>
                <a:schemeClr val="accent1">
                  <a:lumMod val="60000"/>
                  <a:lumOff val="40000"/>
                </a:schemeClr>
              </a:solidFill>
            </a:endParaRP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6" name="TextBox 5">
            <a:extLst>
              <a:ext uri="{FF2B5EF4-FFF2-40B4-BE49-F238E27FC236}">
                <a16:creationId xmlns:a16="http://schemas.microsoft.com/office/drawing/2014/main" id="{A93EAB3B-138E-2BE0-32E9-FBD33D9A1893}"/>
              </a:ext>
            </a:extLst>
          </p:cNvPr>
          <p:cNvSpPr txBox="1"/>
          <p:nvPr/>
        </p:nvSpPr>
        <p:spPr>
          <a:xfrm>
            <a:off x="533400" y="1039822"/>
            <a:ext cx="10718800" cy="4708981"/>
          </a:xfrm>
          <a:prstGeom prst="rect">
            <a:avLst/>
          </a:prstGeom>
          <a:noFill/>
        </p:spPr>
        <p:txBody>
          <a:bodyPr wrap="square">
            <a:spAutoFit/>
          </a:bodyPr>
          <a:lstStyle/>
          <a:p>
            <a:pPr marL="342900" indent="-342900" algn="just">
              <a:lnSpc>
                <a:spcPct val="150000"/>
              </a:lnSpc>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This project focuses on detecting signs of depression from social media posts using machine learning techniques. </a:t>
            </a:r>
          </a:p>
          <a:p>
            <a:pPr marL="342900" indent="-342900" algn="just">
              <a:lnSpc>
                <a:spcPct val="150000"/>
              </a:lnSpc>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The working process begins with collecting textual data from social media platforms, followed by preprocessing steps such as data cleaning, tokenization, normalization, and removal of stop words.</a:t>
            </a:r>
          </a:p>
          <a:p>
            <a:pPr marL="342900" indent="-342900" algn="just">
              <a:lnSpc>
                <a:spcPct val="150000"/>
              </a:lnSpc>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 Meaningful features are extracted using methods like TF-IDF or word </a:t>
            </a:r>
            <a:r>
              <a:rPr lang="en-US" sz="2000" dirty="0" err="1">
                <a:solidFill>
                  <a:schemeClr val="bg1"/>
                </a:solidFill>
                <a:latin typeface="Times New Roman" panose="02020603050405020304" pitchFamily="18" charset="0"/>
                <a:cs typeface="Times New Roman" panose="02020603050405020304" pitchFamily="18" charset="0"/>
              </a:rPr>
              <a:t>embeddings</a:t>
            </a:r>
            <a:r>
              <a:rPr lang="en-US" sz="2000" dirty="0">
                <a:solidFill>
                  <a:schemeClr val="bg1"/>
                </a:solidFill>
                <a:latin typeface="Times New Roman" panose="02020603050405020304" pitchFamily="18" charset="0"/>
                <a:cs typeface="Times New Roman" panose="02020603050405020304" pitchFamily="18" charset="0"/>
              </a:rPr>
              <a:t> to represent textual patterns.</a:t>
            </a:r>
          </a:p>
          <a:p>
            <a:pPr marL="342900" indent="-342900" algn="just">
              <a:lnSpc>
                <a:spcPct val="150000"/>
              </a:lnSpc>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 A classification algorithm such as Naïve Bayes, Support Vector Machine, or logistic regression is trained on labeled data to identify depressive content. </a:t>
            </a:r>
          </a:p>
          <a:p>
            <a:pPr marL="342900" indent="-342900" algn="just">
              <a:lnSpc>
                <a:spcPct val="150000"/>
              </a:lnSpc>
              <a:buFont typeface="Wingdings" panose="05000000000000000000" pitchFamily="2" charset="2"/>
              <a:buChar char="Ø"/>
            </a:pPr>
            <a:r>
              <a:rPr lang="en-US" sz="2000" dirty="0">
                <a:solidFill>
                  <a:schemeClr val="bg1"/>
                </a:solidFill>
                <a:latin typeface="Times New Roman" panose="02020603050405020304" pitchFamily="18" charset="0"/>
                <a:cs typeface="Times New Roman" panose="02020603050405020304" pitchFamily="18" charset="0"/>
              </a:rPr>
              <a:t>The system analyzes new posts and predicts whether they indicate depression, supporting early mental health awareness and intervention.</a:t>
            </a: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3717555" y="237931"/>
            <a:ext cx="3917431" cy="859055"/>
          </a:xfrm>
        </p:spPr>
        <p:txBody>
          <a:bodyPr>
            <a:normAutofit/>
          </a:bodyPr>
          <a:lstStyle/>
          <a:p>
            <a:r>
              <a:rPr lang="en-IN" dirty="0">
                <a:solidFill>
                  <a:schemeClr val="accent1">
                    <a:lumMod val="60000"/>
                    <a:lumOff val="40000"/>
                  </a:schemeClr>
                </a:solidFill>
              </a:rPr>
              <a:t>Objectives</a:t>
            </a:r>
            <a:endParaRPr lang="en-US" dirty="0">
              <a:solidFill>
                <a:schemeClr val="accent1">
                  <a:lumMod val="60000"/>
                  <a:lumOff val="40000"/>
                </a:schemeClr>
              </a:solidFill>
            </a:endParaRP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6" name="TextBox 5">
            <a:extLst>
              <a:ext uri="{FF2B5EF4-FFF2-40B4-BE49-F238E27FC236}">
                <a16:creationId xmlns:a16="http://schemas.microsoft.com/office/drawing/2014/main" id="{20DE856D-C6B3-9981-7FD9-5D262001A9F2}"/>
              </a:ext>
            </a:extLst>
          </p:cNvPr>
          <p:cNvSpPr txBox="1"/>
          <p:nvPr/>
        </p:nvSpPr>
        <p:spPr>
          <a:xfrm>
            <a:off x="843726" y="3534281"/>
            <a:ext cx="9204513" cy="2308324"/>
          </a:xfrm>
          <a:prstGeom prst="rect">
            <a:avLst/>
          </a:prstGeom>
          <a:noFill/>
        </p:spPr>
        <p:txBody>
          <a:bodyPr wrap="square">
            <a:spAutoFit/>
          </a:bodyPr>
          <a:lstStyle/>
          <a:p>
            <a:pPr>
              <a:lnSpc>
                <a:spcPct val="150000"/>
              </a:lnSpc>
            </a:pPr>
            <a:r>
              <a:rPr lang="en-US" sz="2400" b="1" dirty="0">
                <a:solidFill>
                  <a:schemeClr val="bg1"/>
                </a:solidFill>
                <a:latin typeface="Times New Roman" panose="02020603050405020304" pitchFamily="18" charset="0"/>
                <a:cs typeface="Times New Roman" panose="02020603050405020304" pitchFamily="18" charset="0"/>
              </a:rPr>
              <a:t>Proposed Solutions</a:t>
            </a:r>
          </a:p>
          <a:p>
            <a:pPr marL="285750" indent="-285750" algn="just">
              <a:lnSpc>
                <a:spcPct val="150000"/>
              </a:lnSpc>
              <a:buFont typeface="Wingdings" panose="05000000000000000000" pitchFamily="2" charset="2"/>
              <a:buChar char="q"/>
            </a:pPr>
            <a:r>
              <a:rPr lang="en-US" dirty="0">
                <a:solidFill>
                  <a:schemeClr val="bg1"/>
                </a:solidFill>
                <a:latin typeface="Times New Roman" panose="02020603050405020304" pitchFamily="18" charset="0"/>
                <a:cs typeface="Times New Roman" panose="02020603050405020304" pitchFamily="18" charset="0"/>
              </a:rPr>
              <a:t>The proposed solution uses machine learning algorithms to analyze social media posts and classify them as depressive or non-depressive. The system performs text preprocessing, feature extraction, and model training to recognize emotional patterns. It provides automated predictions that help in early identification and mental health monitoring support.</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D6665B38-6E53-517C-5B3C-E4AEDAD48872}"/>
              </a:ext>
            </a:extLst>
          </p:cNvPr>
          <p:cNvSpPr txBox="1"/>
          <p:nvPr/>
        </p:nvSpPr>
        <p:spPr>
          <a:xfrm>
            <a:off x="843726" y="948958"/>
            <a:ext cx="9204513" cy="2400657"/>
          </a:xfrm>
          <a:prstGeom prst="rect">
            <a:avLst/>
          </a:prstGeom>
          <a:noFill/>
        </p:spPr>
        <p:txBody>
          <a:bodyPr wrap="square">
            <a:spAutoFit/>
          </a:bodyPr>
          <a:lstStyle/>
          <a:p>
            <a:pPr>
              <a:buNone/>
            </a:pPr>
            <a:r>
              <a:rPr lang="en-US" sz="2400" b="1" dirty="0">
                <a:solidFill>
                  <a:schemeClr val="bg1"/>
                </a:solidFill>
                <a:latin typeface="Times New Roman" panose="02020603050405020304" pitchFamily="18" charset="0"/>
                <a:cs typeface="Times New Roman" panose="02020603050405020304" pitchFamily="18" charset="0"/>
              </a:rPr>
              <a:t>Problem Statement</a:t>
            </a:r>
          </a:p>
          <a:p>
            <a:pPr>
              <a:buNone/>
            </a:pPr>
            <a:endParaRPr lang="en-US" b="1" dirty="0">
              <a:solidFill>
                <a:schemeClr val="bg1"/>
              </a:solidFill>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q"/>
            </a:pPr>
            <a:r>
              <a:rPr lang="en-US" dirty="0">
                <a:solidFill>
                  <a:schemeClr val="bg1"/>
                </a:solidFill>
                <a:latin typeface="Times New Roman" panose="02020603050405020304" pitchFamily="18" charset="0"/>
                <a:cs typeface="Times New Roman" panose="02020603050405020304" pitchFamily="18" charset="0"/>
              </a:rPr>
              <a:t>Depression often goes unnoticed because individuals hesitate to seek professional help. Social media users frequently express emotions, thoughts, and personal struggles online, but manual monitoring is impossible due to large data volume. There is a need for an automated system to detect depressive patterns from textual data efficiently and accurately.</a:t>
            </a:r>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B3AFA97-2184-FB2E-463A-AC20D558817B}"/>
              </a:ext>
            </a:extLst>
          </p:cNvPr>
          <p:cNvSpPr txBox="1"/>
          <p:nvPr/>
        </p:nvSpPr>
        <p:spPr>
          <a:xfrm>
            <a:off x="568960" y="394454"/>
            <a:ext cx="6096000" cy="584775"/>
          </a:xfrm>
          <a:prstGeom prst="rect">
            <a:avLst/>
          </a:prstGeom>
          <a:noFill/>
        </p:spPr>
        <p:txBody>
          <a:bodyPr wrap="square">
            <a:spAutoFit/>
          </a:bodyPr>
          <a:lstStyle/>
          <a:p>
            <a:r>
              <a:rPr lang="en-IN" sz="3200" b="1" dirty="0">
                <a:solidFill>
                  <a:schemeClr val="accent1">
                    <a:lumMod val="60000"/>
                    <a:lumOff val="40000"/>
                  </a:schemeClr>
                </a:solidFill>
                <a:latin typeface="Times New Roman" panose="02020603050405020304" pitchFamily="18" charset="0"/>
                <a:cs typeface="Times New Roman" panose="02020603050405020304" pitchFamily="18" charset="0"/>
              </a:rPr>
              <a:t>Literature Review </a:t>
            </a:r>
            <a:endParaRPr lang="en-IN" sz="3200" b="1"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4868607"/>
              </p:ext>
            </p:extLst>
          </p:nvPr>
        </p:nvGraphicFramePr>
        <p:xfrm>
          <a:off x="1205948" y="1196745"/>
          <a:ext cx="10124660" cy="4564063"/>
        </p:xfrm>
        <a:graphic>
          <a:graphicData uri="http://schemas.openxmlformats.org/drawingml/2006/table">
            <a:tbl>
              <a:tblPr firstRow="1" bandRow="1">
                <a:tableStyleId>{5C22544A-7EE6-4342-B048-85BDC9FD1C3A}</a:tableStyleId>
              </a:tblPr>
              <a:tblGrid>
                <a:gridCol w="2024932">
                  <a:extLst>
                    <a:ext uri="{9D8B030D-6E8A-4147-A177-3AD203B41FA5}">
                      <a16:colId xmlns:a16="http://schemas.microsoft.com/office/drawing/2014/main" val="3671177782"/>
                    </a:ext>
                  </a:extLst>
                </a:gridCol>
                <a:gridCol w="2024932">
                  <a:extLst>
                    <a:ext uri="{9D8B030D-6E8A-4147-A177-3AD203B41FA5}">
                      <a16:colId xmlns:a16="http://schemas.microsoft.com/office/drawing/2014/main" val="3718939961"/>
                    </a:ext>
                  </a:extLst>
                </a:gridCol>
                <a:gridCol w="2024932">
                  <a:extLst>
                    <a:ext uri="{9D8B030D-6E8A-4147-A177-3AD203B41FA5}">
                      <a16:colId xmlns:a16="http://schemas.microsoft.com/office/drawing/2014/main" val="2462502064"/>
                    </a:ext>
                  </a:extLst>
                </a:gridCol>
                <a:gridCol w="2024932">
                  <a:extLst>
                    <a:ext uri="{9D8B030D-6E8A-4147-A177-3AD203B41FA5}">
                      <a16:colId xmlns:a16="http://schemas.microsoft.com/office/drawing/2014/main" val="2640508117"/>
                    </a:ext>
                  </a:extLst>
                </a:gridCol>
                <a:gridCol w="2024932">
                  <a:extLst>
                    <a:ext uri="{9D8B030D-6E8A-4147-A177-3AD203B41FA5}">
                      <a16:colId xmlns:a16="http://schemas.microsoft.com/office/drawing/2014/main" val="1859144715"/>
                    </a:ext>
                  </a:extLst>
                </a:gridCol>
              </a:tblGrid>
              <a:tr h="370840">
                <a:tc>
                  <a:txBody>
                    <a:bodyPr/>
                    <a:lstStyle/>
                    <a:p>
                      <a:pPr marL="0" marR="0" algn="ctr">
                        <a:lnSpc>
                          <a:spcPct val="107000"/>
                        </a:lnSpc>
                        <a:spcBef>
                          <a:spcPts val="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Year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Authors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Key Findings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Limitations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80441661"/>
                  </a:ext>
                </a:extLst>
              </a:tr>
              <a:tr h="370840">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2024</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K. </a:t>
                      </a:r>
                      <a:r>
                        <a:rPr lang="en-US" sz="1600" dirty="0" err="1">
                          <a:effectLst/>
                          <a:latin typeface="Times New Roman" panose="02020603050405020304" pitchFamily="18" charset="0"/>
                          <a:ea typeface="Times New Roman" panose="02020603050405020304" pitchFamily="18" charset="0"/>
                          <a:cs typeface="Times New Roman" panose="02020603050405020304" pitchFamily="18" charset="0"/>
                        </a:rPr>
                        <a:t>Poongodi</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R. A. </a:t>
                      </a:r>
                      <a:r>
                        <a:rPr lang="en-US" sz="1600" dirty="0" err="1">
                          <a:effectLst/>
                          <a:latin typeface="Times New Roman" panose="02020603050405020304" pitchFamily="18" charset="0"/>
                          <a:ea typeface="Times New Roman" panose="02020603050405020304" pitchFamily="18" charset="0"/>
                          <a:cs typeface="Times New Roman" panose="02020603050405020304" pitchFamily="18" charset="0"/>
                        </a:rPr>
                        <a:t>Nivesh</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J. Q. Blessed </a:t>
                      </a:r>
                      <a:r>
                        <a:rPr lang="en-US" sz="1600" dirty="0" err="1">
                          <a:effectLst/>
                          <a:latin typeface="Times New Roman" panose="02020603050405020304" pitchFamily="18" charset="0"/>
                          <a:ea typeface="Times New Roman" panose="02020603050405020304" pitchFamily="18" charset="0"/>
                          <a:cs typeface="Times New Roman" panose="02020603050405020304" pitchFamily="18" charset="0"/>
                        </a:rPr>
                        <a:t>Jeberson</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V. S. </a:t>
                      </a:r>
                      <a:r>
                        <a:rPr lang="en-US" sz="1600" dirty="0" err="1">
                          <a:effectLst/>
                          <a:latin typeface="Times New Roman" panose="02020603050405020304" pitchFamily="18" charset="0"/>
                          <a:ea typeface="Times New Roman" panose="02020603050405020304" pitchFamily="18" charset="0"/>
                          <a:cs typeface="Times New Roman" panose="02020603050405020304" pitchFamily="18" charset="0"/>
                        </a:rPr>
                        <a:t>Divakar</a:t>
                      </a: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 S. </a:t>
                      </a:r>
                      <a:r>
                        <a:rPr lang="en-US" sz="1600" dirty="0" err="1">
                          <a:effectLst/>
                          <a:latin typeface="Times New Roman" panose="02020603050405020304" pitchFamily="18" charset="0"/>
                          <a:ea typeface="Times New Roman" panose="02020603050405020304" pitchFamily="18" charset="0"/>
                          <a:cs typeface="Times New Roman" panose="02020603050405020304" pitchFamily="18" charset="0"/>
                        </a:rPr>
                        <a:t>Gowshikan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Integrated Beck’s Depression Inventory (BDI) with emotion detection using GAN for improved depression assessment and intervention support.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Combines psychological assessment with AI-based emotion detection; improves accuracy and intervention planning.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Requires structured questionnaire data; GAN models increase computational complexity.</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37719262"/>
                  </a:ext>
                </a:extLst>
              </a:tr>
              <a:tr h="370840">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2021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M. Kang, S. Oh, K. Oh, S. Kang, Y. Lee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Used deep learning models to predict BDI scores from EEG signals.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Objective EEG-based prediction; reduces dependence on self-reporting.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EEG data collection is costly and requires specialized equipment.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82389739"/>
                  </a:ext>
                </a:extLst>
              </a:tr>
              <a:tr h="370840">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2021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L. Minkowski, K. V. Mai, D. Gurve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Applied feature extraction techniques to identify depression and anxiety from EEG signals.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Efficient feature extraction improves classification performance.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Limited dataset size; EEG signals may contain noise affecting accuracy.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52919599"/>
                  </a:ext>
                </a:extLst>
              </a:tr>
            </a:tbl>
          </a:graphicData>
        </a:graphic>
      </p:graphicFrame>
    </p:spTree>
    <p:extLst>
      <p:ext uri="{BB962C8B-B14F-4D97-AF65-F5344CB8AC3E}">
        <p14:creationId xmlns:p14="http://schemas.microsoft.com/office/powerpoint/2010/main" val="3388357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B3AFA97-2184-FB2E-463A-AC20D558817B}"/>
              </a:ext>
            </a:extLst>
          </p:cNvPr>
          <p:cNvSpPr txBox="1"/>
          <p:nvPr/>
        </p:nvSpPr>
        <p:spPr>
          <a:xfrm>
            <a:off x="568960" y="394454"/>
            <a:ext cx="6096000" cy="584775"/>
          </a:xfrm>
          <a:prstGeom prst="rect">
            <a:avLst/>
          </a:prstGeom>
          <a:noFill/>
        </p:spPr>
        <p:txBody>
          <a:bodyPr wrap="square">
            <a:spAutoFit/>
          </a:bodyPr>
          <a:lstStyle/>
          <a:p>
            <a:r>
              <a:rPr lang="en-IN" sz="3200" b="1" dirty="0">
                <a:solidFill>
                  <a:schemeClr val="accent1">
                    <a:lumMod val="60000"/>
                    <a:lumOff val="40000"/>
                  </a:schemeClr>
                </a:solidFill>
                <a:latin typeface="Times New Roman" panose="02020603050405020304" pitchFamily="18" charset="0"/>
                <a:cs typeface="Times New Roman" panose="02020603050405020304" pitchFamily="18" charset="0"/>
              </a:rPr>
              <a:t>Literature Review </a:t>
            </a:r>
            <a:endParaRPr lang="en-IN" sz="3200" b="1"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598290877"/>
              </p:ext>
            </p:extLst>
          </p:nvPr>
        </p:nvGraphicFramePr>
        <p:xfrm>
          <a:off x="1205948" y="1196745"/>
          <a:ext cx="10124660" cy="2731453"/>
        </p:xfrm>
        <a:graphic>
          <a:graphicData uri="http://schemas.openxmlformats.org/drawingml/2006/table">
            <a:tbl>
              <a:tblPr firstRow="1" bandRow="1">
                <a:tableStyleId>{5C22544A-7EE6-4342-B048-85BDC9FD1C3A}</a:tableStyleId>
              </a:tblPr>
              <a:tblGrid>
                <a:gridCol w="2024932">
                  <a:extLst>
                    <a:ext uri="{9D8B030D-6E8A-4147-A177-3AD203B41FA5}">
                      <a16:colId xmlns:a16="http://schemas.microsoft.com/office/drawing/2014/main" val="3671177782"/>
                    </a:ext>
                  </a:extLst>
                </a:gridCol>
                <a:gridCol w="2024932">
                  <a:extLst>
                    <a:ext uri="{9D8B030D-6E8A-4147-A177-3AD203B41FA5}">
                      <a16:colId xmlns:a16="http://schemas.microsoft.com/office/drawing/2014/main" val="3718939961"/>
                    </a:ext>
                  </a:extLst>
                </a:gridCol>
                <a:gridCol w="2024932">
                  <a:extLst>
                    <a:ext uri="{9D8B030D-6E8A-4147-A177-3AD203B41FA5}">
                      <a16:colId xmlns:a16="http://schemas.microsoft.com/office/drawing/2014/main" val="2462502064"/>
                    </a:ext>
                  </a:extLst>
                </a:gridCol>
                <a:gridCol w="2024932">
                  <a:extLst>
                    <a:ext uri="{9D8B030D-6E8A-4147-A177-3AD203B41FA5}">
                      <a16:colId xmlns:a16="http://schemas.microsoft.com/office/drawing/2014/main" val="2640508117"/>
                    </a:ext>
                  </a:extLst>
                </a:gridCol>
                <a:gridCol w="2024932">
                  <a:extLst>
                    <a:ext uri="{9D8B030D-6E8A-4147-A177-3AD203B41FA5}">
                      <a16:colId xmlns:a16="http://schemas.microsoft.com/office/drawing/2014/main" val="1859144715"/>
                    </a:ext>
                  </a:extLst>
                </a:gridCol>
              </a:tblGrid>
              <a:tr h="370840">
                <a:tc>
                  <a:txBody>
                    <a:bodyPr/>
                    <a:lstStyle/>
                    <a:p>
                      <a:pPr marL="0" marR="0" algn="ctr">
                        <a:lnSpc>
                          <a:spcPct val="107000"/>
                        </a:lnSpc>
                        <a:spcBef>
                          <a:spcPts val="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Year</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Authors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b="1" dirty="0">
                          <a:effectLst/>
                          <a:latin typeface="Times New Roman" panose="02020603050405020304" pitchFamily="18" charset="0"/>
                          <a:ea typeface="Times New Roman" panose="02020603050405020304" pitchFamily="18" charset="0"/>
                          <a:cs typeface="Times New Roman" panose="02020603050405020304" pitchFamily="18" charset="0"/>
                        </a:rPr>
                        <a:t>Key Findings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0"/>
                        </a:spcAft>
                      </a:pPr>
                      <a:r>
                        <a:rPr lang="en-US" sz="1600" b="1">
                          <a:effectLst/>
                          <a:latin typeface="Times New Roman" panose="02020603050405020304" pitchFamily="18" charset="0"/>
                          <a:ea typeface="Times New Roman" panose="02020603050405020304" pitchFamily="18" charset="0"/>
                          <a:cs typeface="Times New Roman" panose="02020603050405020304" pitchFamily="18" charset="0"/>
                        </a:rPr>
                        <a:t>Limitations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80441661"/>
                  </a:ext>
                </a:extLst>
              </a:tr>
              <a:tr h="370840">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2021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Z. Tao, S. Liu, B. Li</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Studied correlation between frailty and depression in elderly patients with chronic kidney disease.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Highlights medical correlation factors; supports clinical decision-making.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Focused only on elderly CKD patients; limited generalization.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237719262"/>
                  </a:ext>
                </a:extLst>
              </a:tr>
              <a:tr h="370840">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2021</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S. Prabhudesai, A. Mhaske, M. Parmar, S. Bhagwat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Conducted comparative analysis of deep learning models for depression detection.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a:effectLst/>
                          <a:latin typeface="Times New Roman" panose="02020603050405020304" pitchFamily="18" charset="0"/>
                          <a:ea typeface="Times New Roman" panose="02020603050405020304" pitchFamily="18" charset="0"/>
                          <a:cs typeface="Times New Roman" panose="02020603050405020304" pitchFamily="18" charset="0"/>
                        </a:rPr>
                        <a:t>Provides performance comparison of multiple models; identifies best-performing approach.</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0"/>
                        </a:spcAft>
                      </a:pPr>
                      <a:r>
                        <a:rPr lang="en-US" sz="1600" dirty="0">
                          <a:effectLst/>
                          <a:latin typeface="Times New Roman" panose="02020603050405020304" pitchFamily="18" charset="0"/>
                          <a:ea typeface="Times New Roman" panose="02020603050405020304" pitchFamily="18" charset="0"/>
                          <a:cs typeface="Times New Roman" panose="02020603050405020304" pitchFamily="18" charset="0"/>
                        </a:rPr>
                        <a:t>Primarily experimental; lacks real-world deployment validation.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82389739"/>
                  </a:ext>
                </a:extLst>
              </a:tr>
            </a:tbl>
          </a:graphicData>
        </a:graphic>
      </p:graphicFrame>
    </p:spTree>
    <p:extLst>
      <p:ext uri="{BB962C8B-B14F-4D97-AF65-F5344CB8AC3E}">
        <p14:creationId xmlns:p14="http://schemas.microsoft.com/office/powerpoint/2010/main" val="2790800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F31D213-784D-9C28-6725-EEB8C7835BCD}"/>
              </a:ext>
            </a:extLst>
          </p:cNvPr>
          <p:cNvSpPr txBox="1"/>
          <p:nvPr/>
        </p:nvSpPr>
        <p:spPr>
          <a:xfrm>
            <a:off x="1544320" y="154193"/>
            <a:ext cx="6096000" cy="646331"/>
          </a:xfrm>
          <a:prstGeom prst="rect">
            <a:avLst/>
          </a:prstGeom>
          <a:noFill/>
        </p:spPr>
        <p:txBody>
          <a:bodyPr wrap="square">
            <a:spAutoFit/>
          </a:bodyPr>
          <a:lstStyle/>
          <a:p>
            <a:r>
              <a:rPr lang="en-IN" sz="3600" b="1" dirty="0">
                <a:solidFill>
                  <a:schemeClr val="accent1">
                    <a:lumMod val="60000"/>
                    <a:lumOff val="40000"/>
                  </a:schemeClr>
                </a:solidFill>
                <a:latin typeface="Times New Roman" panose="02020603050405020304" pitchFamily="18" charset="0"/>
                <a:cs typeface="Times New Roman" panose="02020603050405020304" pitchFamily="18" charset="0"/>
              </a:rPr>
              <a:t>Architecture</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t="20882"/>
          <a:stretch/>
        </p:blipFill>
        <p:spPr>
          <a:xfrm>
            <a:off x="1747630" y="1590865"/>
            <a:ext cx="8814352" cy="4649176"/>
          </a:xfrm>
          <a:prstGeom prst="rect">
            <a:avLst/>
          </a:prstGeom>
        </p:spPr>
      </p:pic>
    </p:spTree>
    <p:extLst>
      <p:ext uri="{BB962C8B-B14F-4D97-AF65-F5344CB8AC3E}">
        <p14:creationId xmlns:p14="http://schemas.microsoft.com/office/powerpoint/2010/main" val="2813560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4D30C8C-ACE0-CB8B-C397-5F2EEE84ED64}"/>
              </a:ext>
            </a:extLst>
          </p:cNvPr>
          <p:cNvSpPr txBox="1"/>
          <p:nvPr/>
        </p:nvSpPr>
        <p:spPr>
          <a:xfrm>
            <a:off x="2941320" y="492204"/>
            <a:ext cx="6096000" cy="584775"/>
          </a:xfrm>
          <a:prstGeom prst="rect">
            <a:avLst/>
          </a:prstGeom>
          <a:noFill/>
        </p:spPr>
        <p:txBody>
          <a:bodyPr wrap="square">
            <a:spAutoFit/>
          </a:bodyPr>
          <a:lstStyle/>
          <a:p>
            <a:pPr>
              <a:buNone/>
            </a:pPr>
            <a:r>
              <a:rPr lang="en-IN" sz="3200" b="1" dirty="0">
                <a:solidFill>
                  <a:schemeClr val="accent1">
                    <a:lumMod val="60000"/>
                    <a:lumOff val="40000"/>
                  </a:schemeClr>
                </a:solidFill>
              </a:rPr>
              <a:t>SYSTEM MODULES</a:t>
            </a:r>
          </a:p>
        </p:txBody>
      </p:sp>
      <p:sp>
        <p:nvSpPr>
          <p:cNvPr id="11" name="TextBox 10">
            <a:extLst>
              <a:ext uri="{FF2B5EF4-FFF2-40B4-BE49-F238E27FC236}">
                <a16:creationId xmlns:a16="http://schemas.microsoft.com/office/drawing/2014/main" id="{40BC7A41-BF3A-7B27-F843-DD6BC9CD6CC1}"/>
              </a:ext>
            </a:extLst>
          </p:cNvPr>
          <p:cNvSpPr txBox="1"/>
          <p:nvPr/>
        </p:nvSpPr>
        <p:spPr>
          <a:xfrm>
            <a:off x="830248" y="1657317"/>
            <a:ext cx="6096000" cy="2862322"/>
          </a:xfrm>
          <a:prstGeom prst="rect">
            <a:avLst/>
          </a:prstGeom>
          <a:noFill/>
        </p:spPr>
        <p:txBody>
          <a:bodyPr wrap="square">
            <a:spAutoFit/>
          </a:bodyPr>
          <a:lstStyle/>
          <a:p>
            <a:pPr marL="457200" indent="-457200" algn="just">
              <a:lnSpc>
                <a:spcPct val="150000"/>
              </a:lnSpc>
              <a:buFont typeface="+mj-lt"/>
              <a:buAutoNum type="arabicPeriod"/>
            </a:pPr>
            <a:r>
              <a:rPr lang="en-US" sz="2000" dirty="0">
                <a:solidFill>
                  <a:schemeClr val="bg1"/>
                </a:solidFill>
                <a:latin typeface="Times New Roman" panose="02020603050405020304" pitchFamily="18" charset="0"/>
                <a:cs typeface="Times New Roman" panose="02020603050405020304" pitchFamily="18" charset="0"/>
              </a:rPr>
              <a:t>Data Collection Module</a:t>
            </a:r>
          </a:p>
          <a:p>
            <a:pPr marL="457200" indent="-457200" algn="just">
              <a:lnSpc>
                <a:spcPct val="150000"/>
              </a:lnSpc>
              <a:buFont typeface="+mj-lt"/>
              <a:buAutoNum type="arabicPeriod"/>
            </a:pPr>
            <a:r>
              <a:rPr lang="en-US" sz="2000" dirty="0">
                <a:solidFill>
                  <a:schemeClr val="bg1"/>
                </a:solidFill>
                <a:latin typeface="Times New Roman" panose="02020603050405020304" pitchFamily="18" charset="0"/>
                <a:cs typeface="Times New Roman" panose="02020603050405020304" pitchFamily="18" charset="0"/>
              </a:rPr>
              <a:t>Data Preprocessing Module</a:t>
            </a:r>
          </a:p>
          <a:p>
            <a:pPr marL="457200" indent="-457200" algn="just">
              <a:lnSpc>
                <a:spcPct val="150000"/>
              </a:lnSpc>
              <a:buFont typeface="+mj-lt"/>
              <a:buAutoNum type="arabicPeriod"/>
            </a:pPr>
            <a:r>
              <a:rPr lang="en-US" sz="2000" dirty="0">
                <a:solidFill>
                  <a:schemeClr val="bg1"/>
                </a:solidFill>
                <a:latin typeface="Times New Roman" panose="02020603050405020304" pitchFamily="18" charset="0"/>
                <a:cs typeface="Times New Roman" panose="02020603050405020304" pitchFamily="18" charset="0"/>
              </a:rPr>
              <a:t>Feature Extraction Module</a:t>
            </a:r>
          </a:p>
          <a:p>
            <a:pPr marL="457200" indent="-457200" algn="just">
              <a:lnSpc>
                <a:spcPct val="150000"/>
              </a:lnSpc>
              <a:buFont typeface="+mj-lt"/>
              <a:buAutoNum type="arabicPeriod"/>
            </a:pPr>
            <a:r>
              <a:rPr lang="en-US" sz="2000" dirty="0">
                <a:solidFill>
                  <a:schemeClr val="bg1"/>
                </a:solidFill>
                <a:latin typeface="Times New Roman" panose="02020603050405020304" pitchFamily="18" charset="0"/>
                <a:cs typeface="Times New Roman" panose="02020603050405020304" pitchFamily="18" charset="0"/>
              </a:rPr>
              <a:t>Model Training Module</a:t>
            </a:r>
          </a:p>
          <a:p>
            <a:pPr marL="457200" indent="-457200" algn="just">
              <a:lnSpc>
                <a:spcPct val="150000"/>
              </a:lnSpc>
              <a:buFont typeface="+mj-lt"/>
              <a:buAutoNum type="arabicPeriod"/>
            </a:pPr>
            <a:r>
              <a:rPr lang="en-US" sz="2000" dirty="0">
                <a:solidFill>
                  <a:schemeClr val="bg1"/>
                </a:solidFill>
                <a:latin typeface="Times New Roman" panose="02020603050405020304" pitchFamily="18" charset="0"/>
                <a:cs typeface="Times New Roman" panose="02020603050405020304" pitchFamily="18" charset="0"/>
              </a:rPr>
              <a:t>Classification &amp; Prediction Module</a:t>
            </a:r>
          </a:p>
          <a:p>
            <a:pPr marL="457200" indent="-457200" algn="just">
              <a:lnSpc>
                <a:spcPct val="150000"/>
              </a:lnSpc>
              <a:buFont typeface="+mj-lt"/>
              <a:buAutoNum type="arabicPeriod"/>
            </a:pPr>
            <a:r>
              <a:rPr lang="en-US" sz="2000" dirty="0">
                <a:solidFill>
                  <a:schemeClr val="bg1"/>
                </a:solidFill>
                <a:latin typeface="Times New Roman" panose="02020603050405020304" pitchFamily="18" charset="0"/>
                <a:cs typeface="Times New Roman" panose="02020603050405020304" pitchFamily="18" charset="0"/>
              </a:rPr>
              <a:t>Result Analysis Module</a:t>
            </a:r>
          </a:p>
        </p:txBody>
      </p:sp>
    </p:spTree>
    <p:extLst>
      <p:ext uri="{BB962C8B-B14F-4D97-AF65-F5344CB8AC3E}">
        <p14:creationId xmlns:p14="http://schemas.microsoft.com/office/powerpoint/2010/main" val="3976995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A78343-6D17-A660-E5AE-1006730C3CBA}"/>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9" name="TextBox 8">
            <a:extLst>
              <a:ext uri="{FF2B5EF4-FFF2-40B4-BE49-F238E27FC236}">
                <a16:creationId xmlns:a16="http://schemas.microsoft.com/office/drawing/2014/main" id="{3D254F5C-45B4-D71F-3551-C6E3AB1E772B}"/>
              </a:ext>
            </a:extLst>
          </p:cNvPr>
          <p:cNvSpPr txBox="1"/>
          <p:nvPr/>
        </p:nvSpPr>
        <p:spPr>
          <a:xfrm>
            <a:off x="746760" y="707410"/>
            <a:ext cx="10287000" cy="5078313"/>
          </a:xfrm>
          <a:prstGeom prst="rect">
            <a:avLst/>
          </a:prstGeom>
          <a:noFill/>
        </p:spPr>
        <p:txBody>
          <a:bodyPr wrap="square">
            <a:spAutoFit/>
          </a:bodyPr>
          <a:lstStyle/>
          <a:p>
            <a:pPr>
              <a:buNone/>
            </a:pPr>
            <a:r>
              <a:rPr lang="en-IN" sz="3600" b="1" dirty="0">
                <a:solidFill>
                  <a:schemeClr val="accent1">
                    <a:lumMod val="60000"/>
                    <a:lumOff val="40000"/>
                  </a:schemeClr>
                </a:solidFill>
              </a:rPr>
              <a:t>       Methods and Techniques</a:t>
            </a:r>
          </a:p>
          <a:p>
            <a:pPr>
              <a:buNone/>
            </a:pPr>
            <a:endParaRPr lang="en-IN" b="1" dirty="0"/>
          </a:p>
          <a:p>
            <a:pPr marL="342900" indent="-342900" algn="just">
              <a:lnSpc>
                <a:spcPct val="150000"/>
              </a:lnSpc>
              <a:buFont typeface="Wingdings" panose="05000000000000000000" pitchFamily="2" charset="2"/>
              <a:buChar char="q"/>
            </a:pPr>
            <a:r>
              <a:rPr lang="en-US" sz="2000" dirty="0">
                <a:solidFill>
                  <a:schemeClr val="bg1"/>
                </a:solidFill>
                <a:latin typeface="Times New Roman" panose="02020603050405020304" pitchFamily="18" charset="0"/>
                <a:cs typeface="Times New Roman" panose="02020603050405020304" pitchFamily="18" charset="0"/>
              </a:rPr>
              <a:t>This project uses supervised machine learning techniques to detect depression from social media text. Initially, text data is collected and preprocessed through cleaning, tokenization, lowercasing, and removal of stop words and special characters. Feature extraction methods such as Term Frequency–Inverse Document Frequency (TF-IDF) and word </a:t>
            </a:r>
            <a:r>
              <a:rPr lang="en-US" sz="2000" dirty="0" err="1">
                <a:solidFill>
                  <a:schemeClr val="bg1"/>
                </a:solidFill>
                <a:latin typeface="Times New Roman" panose="02020603050405020304" pitchFamily="18" charset="0"/>
                <a:cs typeface="Times New Roman" panose="02020603050405020304" pitchFamily="18" charset="0"/>
              </a:rPr>
              <a:t>embeddings</a:t>
            </a:r>
            <a:r>
              <a:rPr lang="en-US" sz="2000" dirty="0">
                <a:solidFill>
                  <a:schemeClr val="bg1"/>
                </a:solidFill>
                <a:latin typeface="Times New Roman" panose="02020603050405020304" pitchFamily="18" charset="0"/>
                <a:cs typeface="Times New Roman" panose="02020603050405020304" pitchFamily="18" charset="0"/>
              </a:rPr>
              <a:t> are applied to convert text into numerical form. </a:t>
            </a:r>
          </a:p>
          <a:p>
            <a:pPr marL="342900" indent="-342900" algn="just">
              <a:lnSpc>
                <a:spcPct val="150000"/>
              </a:lnSpc>
              <a:buFont typeface="Wingdings" panose="05000000000000000000" pitchFamily="2" charset="2"/>
              <a:buChar char="q"/>
            </a:pPr>
            <a:r>
              <a:rPr lang="en-US" sz="2000" dirty="0">
                <a:solidFill>
                  <a:schemeClr val="bg1"/>
                </a:solidFill>
                <a:latin typeface="Times New Roman" panose="02020603050405020304" pitchFamily="18" charset="0"/>
                <a:cs typeface="Times New Roman" panose="02020603050405020304" pitchFamily="18" charset="0"/>
              </a:rPr>
              <a:t>Classification algorithms like Naïve Bayes, Support Vector Machine (SVM), and Logistic Regression are used to train the prediction model. </a:t>
            </a:r>
          </a:p>
          <a:p>
            <a:pPr marL="342900" indent="-342900" algn="just">
              <a:lnSpc>
                <a:spcPct val="150000"/>
              </a:lnSpc>
              <a:buFont typeface="Wingdings" panose="05000000000000000000" pitchFamily="2" charset="2"/>
              <a:buChar char="q"/>
            </a:pPr>
            <a:r>
              <a:rPr lang="en-US" sz="2000" dirty="0">
                <a:solidFill>
                  <a:schemeClr val="bg1"/>
                </a:solidFill>
                <a:latin typeface="Times New Roman" panose="02020603050405020304" pitchFamily="18" charset="0"/>
                <a:cs typeface="Times New Roman" panose="02020603050405020304" pitchFamily="18" charset="0"/>
              </a:rPr>
              <a:t>The dataset is divided into training and testing sets, and performance is evaluated using accuracy, precision, recall, and F1-score metrics.</a:t>
            </a:r>
            <a:endParaRPr lang="en-IN"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5773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1DEC1-6DDA-FA37-CAB6-CA13CABF82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D34828-66BB-431F-377C-815EA5CD5AEF}"/>
              </a:ext>
            </a:extLst>
          </p:cNvPr>
          <p:cNvSpPr>
            <a:spLocks noGrp="1"/>
          </p:cNvSpPr>
          <p:nvPr>
            <p:ph type="title"/>
          </p:nvPr>
        </p:nvSpPr>
        <p:spPr>
          <a:xfrm>
            <a:off x="2789321" y="117288"/>
            <a:ext cx="7421078" cy="859055"/>
          </a:xfrm>
        </p:spPr>
        <p:txBody>
          <a:bodyPr>
            <a:normAutofit/>
          </a:bodyPr>
          <a:lstStyle/>
          <a:p>
            <a:r>
              <a:rPr lang="en-IN" sz="4800" dirty="0">
                <a:solidFill>
                  <a:schemeClr val="accent1">
                    <a:lumMod val="60000"/>
                    <a:lumOff val="40000"/>
                  </a:schemeClr>
                </a:solidFill>
              </a:rPr>
              <a:t>Requirement Analysis</a:t>
            </a:r>
            <a:endParaRPr lang="en-US" sz="4800" dirty="0">
              <a:solidFill>
                <a:schemeClr val="accent1">
                  <a:lumMod val="60000"/>
                  <a:lumOff val="40000"/>
                </a:schemeClr>
              </a:solidFill>
            </a:endParaRPr>
          </a:p>
        </p:txBody>
      </p:sp>
      <p:sp>
        <p:nvSpPr>
          <p:cNvPr id="2" name="Slide Number Placeholder 1">
            <a:extLst>
              <a:ext uri="{FF2B5EF4-FFF2-40B4-BE49-F238E27FC236}">
                <a16:creationId xmlns:a16="http://schemas.microsoft.com/office/drawing/2014/main" id="{A6820B3B-71F8-BE2E-8D14-3BE0BD9FBC3A}"/>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
        <p:nvSpPr>
          <p:cNvPr id="8" name="TextBox 7">
            <a:extLst>
              <a:ext uri="{FF2B5EF4-FFF2-40B4-BE49-F238E27FC236}">
                <a16:creationId xmlns:a16="http://schemas.microsoft.com/office/drawing/2014/main" id="{5D015F93-45EC-F1C2-C5C5-7085FBDB8296}"/>
              </a:ext>
            </a:extLst>
          </p:cNvPr>
          <p:cNvSpPr txBox="1"/>
          <p:nvPr/>
        </p:nvSpPr>
        <p:spPr>
          <a:xfrm>
            <a:off x="838200" y="849758"/>
            <a:ext cx="9525000" cy="5078313"/>
          </a:xfrm>
          <a:prstGeom prst="rect">
            <a:avLst/>
          </a:prstGeom>
          <a:noFill/>
        </p:spPr>
        <p:txBody>
          <a:bodyPr wrap="square">
            <a:spAutoFit/>
          </a:bodyPr>
          <a:lstStyle/>
          <a:p>
            <a:pPr>
              <a:lnSpc>
                <a:spcPct val="150000"/>
              </a:lnSpc>
              <a:buNone/>
            </a:pPr>
            <a:r>
              <a:rPr lang="en-US" sz="2400" b="1" dirty="0">
                <a:solidFill>
                  <a:schemeClr val="bg1"/>
                </a:solidFill>
                <a:latin typeface="Times New Roman" pitchFamily="18" charset="0"/>
                <a:cs typeface="Times New Roman" pitchFamily="18" charset="0"/>
              </a:rPr>
              <a:t>HARDWARE REQUIREMENT:-</a:t>
            </a:r>
            <a:endParaRPr lang="en-US" sz="2400" dirty="0">
              <a:solidFill>
                <a:schemeClr val="bg1"/>
              </a:solidFill>
              <a:latin typeface="Times New Roman" pitchFamily="18" charset="0"/>
              <a:cs typeface="Times New Roman" pitchFamily="18" charset="0"/>
            </a:endParaRPr>
          </a:p>
          <a:p>
            <a:pPr>
              <a:lnSpc>
                <a:spcPct val="150000"/>
              </a:lnSpc>
              <a:buNone/>
            </a:pPr>
            <a:r>
              <a:rPr lang="en-US" sz="2400" dirty="0">
                <a:solidFill>
                  <a:schemeClr val="bg1"/>
                </a:solidFill>
                <a:latin typeface="Times New Roman" pitchFamily="18" charset="0"/>
                <a:cs typeface="Times New Roman" pitchFamily="18" charset="0"/>
              </a:rPr>
              <a:t>OS: WINDOWS 11</a:t>
            </a:r>
          </a:p>
          <a:p>
            <a:pPr>
              <a:lnSpc>
                <a:spcPct val="150000"/>
              </a:lnSpc>
              <a:buNone/>
            </a:pPr>
            <a:r>
              <a:rPr lang="en-US" sz="2400" dirty="0">
                <a:solidFill>
                  <a:schemeClr val="bg1"/>
                </a:solidFill>
                <a:latin typeface="Times New Roman" pitchFamily="18" charset="0"/>
                <a:cs typeface="Times New Roman" pitchFamily="18" charset="0"/>
              </a:rPr>
              <a:t>RAM : 16 GB</a:t>
            </a:r>
          </a:p>
          <a:p>
            <a:pPr>
              <a:lnSpc>
                <a:spcPct val="150000"/>
              </a:lnSpc>
              <a:buNone/>
            </a:pPr>
            <a:r>
              <a:rPr lang="en-US" sz="2400" dirty="0">
                <a:solidFill>
                  <a:schemeClr val="bg1"/>
                </a:solidFill>
                <a:latin typeface="Times New Roman" pitchFamily="18" charset="0"/>
                <a:cs typeface="Times New Roman" pitchFamily="18" charset="0"/>
              </a:rPr>
              <a:t>HARD DISK : 1 TB</a:t>
            </a:r>
          </a:p>
          <a:p>
            <a:pPr>
              <a:lnSpc>
                <a:spcPct val="150000"/>
              </a:lnSpc>
              <a:buNone/>
            </a:pPr>
            <a:r>
              <a:rPr lang="en-US" sz="2400" dirty="0">
                <a:solidFill>
                  <a:schemeClr val="bg1"/>
                </a:solidFill>
                <a:latin typeface="Times New Roman" pitchFamily="18" charset="0"/>
                <a:cs typeface="Times New Roman" pitchFamily="18" charset="0"/>
              </a:rPr>
              <a:t> </a:t>
            </a:r>
          </a:p>
          <a:p>
            <a:pPr>
              <a:lnSpc>
                <a:spcPct val="150000"/>
              </a:lnSpc>
              <a:buNone/>
            </a:pPr>
            <a:r>
              <a:rPr lang="en-US" sz="2400" b="1" dirty="0">
                <a:solidFill>
                  <a:schemeClr val="bg1"/>
                </a:solidFill>
                <a:latin typeface="Times New Roman" pitchFamily="18" charset="0"/>
                <a:cs typeface="Times New Roman" pitchFamily="18" charset="0"/>
              </a:rPr>
              <a:t>SOFTWARE REQUIREMENT:-</a:t>
            </a:r>
            <a:endParaRPr lang="en-US" sz="2400" dirty="0">
              <a:solidFill>
                <a:schemeClr val="bg1"/>
              </a:solidFill>
              <a:latin typeface="Times New Roman" pitchFamily="18" charset="0"/>
              <a:cs typeface="Times New Roman" pitchFamily="18" charset="0"/>
            </a:endParaRPr>
          </a:p>
          <a:p>
            <a:pPr>
              <a:lnSpc>
                <a:spcPct val="150000"/>
              </a:lnSpc>
              <a:buNone/>
            </a:pPr>
            <a:r>
              <a:rPr lang="en-US" sz="2400" dirty="0">
                <a:solidFill>
                  <a:schemeClr val="bg1"/>
                </a:solidFill>
                <a:latin typeface="Times New Roman" pitchFamily="18" charset="0"/>
                <a:cs typeface="Times New Roman" pitchFamily="18" charset="0"/>
              </a:rPr>
              <a:t>FRONT END		-	HTML,CSS</a:t>
            </a:r>
          </a:p>
          <a:p>
            <a:pPr>
              <a:lnSpc>
                <a:spcPct val="150000"/>
              </a:lnSpc>
              <a:buNone/>
            </a:pPr>
            <a:r>
              <a:rPr lang="en-US" sz="2400" dirty="0">
                <a:solidFill>
                  <a:schemeClr val="bg1"/>
                </a:solidFill>
                <a:latin typeface="Times New Roman" pitchFamily="18" charset="0"/>
                <a:cs typeface="Times New Roman" pitchFamily="18" charset="0"/>
              </a:rPr>
              <a:t>BACK END		-	PYTHON</a:t>
            </a:r>
          </a:p>
          <a:p>
            <a:pPr>
              <a:lnSpc>
                <a:spcPct val="150000"/>
              </a:lnSpc>
              <a:buNone/>
            </a:pPr>
            <a:r>
              <a:rPr lang="en-US" sz="2400" dirty="0">
                <a:solidFill>
                  <a:schemeClr val="bg1"/>
                </a:solidFill>
                <a:latin typeface="Times New Roman" pitchFamily="18" charset="0"/>
                <a:cs typeface="Times New Roman" pitchFamily="18" charset="0"/>
              </a:rPr>
              <a:t>FRAMEWORK	-	FLASK</a:t>
            </a:r>
          </a:p>
        </p:txBody>
      </p:sp>
    </p:spTree>
    <p:extLst>
      <p:ext uri="{BB962C8B-B14F-4D97-AF65-F5344CB8AC3E}">
        <p14:creationId xmlns:p14="http://schemas.microsoft.com/office/powerpoint/2010/main" val="1155161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1DEC1-6DDA-FA37-CAB6-CA13CABF82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D34828-66BB-431F-377C-815EA5CD5AEF}"/>
              </a:ext>
            </a:extLst>
          </p:cNvPr>
          <p:cNvSpPr>
            <a:spLocks noGrp="1"/>
          </p:cNvSpPr>
          <p:nvPr>
            <p:ph type="title"/>
          </p:nvPr>
        </p:nvSpPr>
        <p:spPr>
          <a:xfrm>
            <a:off x="2789321" y="117288"/>
            <a:ext cx="7421078" cy="859055"/>
          </a:xfrm>
        </p:spPr>
        <p:txBody>
          <a:bodyPr>
            <a:normAutofit/>
          </a:bodyPr>
          <a:lstStyle/>
          <a:p>
            <a:r>
              <a:rPr lang="en-IN" sz="4800" dirty="0">
                <a:solidFill>
                  <a:schemeClr val="accent1">
                    <a:lumMod val="60000"/>
                    <a:lumOff val="40000"/>
                  </a:schemeClr>
                </a:solidFill>
              </a:rPr>
              <a:t>PROJECT TIME LINE</a:t>
            </a:r>
            <a:endParaRPr lang="en-US" sz="4800" dirty="0">
              <a:solidFill>
                <a:schemeClr val="accent1">
                  <a:lumMod val="60000"/>
                  <a:lumOff val="40000"/>
                </a:schemeClr>
              </a:solidFill>
            </a:endParaRPr>
          </a:p>
        </p:txBody>
      </p:sp>
      <p:sp>
        <p:nvSpPr>
          <p:cNvPr id="2" name="Slide Number Placeholder 1">
            <a:extLst>
              <a:ext uri="{FF2B5EF4-FFF2-40B4-BE49-F238E27FC236}">
                <a16:creationId xmlns:a16="http://schemas.microsoft.com/office/drawing/2014/main" id="{A6820B3B-71F8-BE2E-8D14-3BE0BD9FBC3A}"/>
              </a:ext>
            </a:extLst>
          </p:cNvPr>
          <p:cNvSpPr>
            <a:spLocks noGrp="1"/>
          </p:cNvSpPr>
          <p:nvPr>
            <p:ph type="sldNum" sz="quarter" idx="12"/>
          </p:nvPr>
        </p:nvSpPr>
        <p:spPr/>
        <p:txBody>
          <a:bodyPr/>
          <a:lstStyle/>
          <a:p>
            <a:fld id="{C263D6C4-4840-40CC-AC84-17E24B3B7BDE}" type="slidenum">
              <a:rPr lang="en-US" smtClean="0"/>
              <a:pPr/>
              <a:t>10</a:t>
            </a:fld>
            <a:endParaRPr lang="en-US" dirty="0"/>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902" t="22996" r="-902" b="-3092"/>
          <a:stretch/>
        </p:blipFill>
        <p:spPr>
          <a:xfrm>
            <a:off x="952500" y="1364974"/>
            <a:ext cx="10287000" cy="5493026"/>
          </a:xfrm>
          <a:prstGeom prst="rect">
            <a:avLst/>
          </a:prstGeom>
        </p:spPr>
      </p:pic>
    </p:spTree>
    <p:extLst>
      <p:ext uri="{BB962C8B-B14F-4D97-AF65-F5344CB8AC3E}">
        <p14:creationId xmlns:p14="http://schemas.microsoft.com/office/powerpoint/2010/main" val="1452699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FD4C618B-1123-838D-9B79-EF71D8681064}"/>
              </a:ext>
            </a:extLst>
          </p:cNvPr>
          <p:cNvSpPr txBox="1"/>
          <p:nvPr/>
        </p:nvSpPr>
        <p:spPr>
          <a:xfrm>
            <a:off x="3352800" y="501134"/>
            <a:ext cx="6096000" cy="646331"/>
          </a:xfrm>
          <a:prstGeom prst="rect">
            <a:avLst/>
          </a:prstGeom>
          <a:noFill/>
        </p:spPr>
        <p:txBody>
          <a:bodyPr wrap="square">
            <a:spAutoFit/>
          </a:bodyPr>
          <a:lstStyle/>
          <a:p>
            <a:pPr>
              <a:buNone/>
            </a:pPr>
            <a:r>
              <a:rPr lang="en-US" sz="3600" b="1" dirty="0">
                <a:solidFill>
                  <a:schemeClr val="accent1">
                    <a:lumMod val="60000"/>
                    <a:lumOff val="40000"/>
                  </a:schemeClr>
                </a:solidFill>
              </a:rPr>
              <a:t>Conclusion</a:t>
            </a:r>
            <a:endParaRPr lang="en-US" sz="3200" b="1" dirty="0">
              <a:solidFill>
                <a:schemeClr val="accent1">
                  <a:lumMod val="60000"/>
                  <a:lumOff val="40000"/>
                </a:schemeClr>
              </a:solidFill>
            </a:endParaRPr>
          </a:p>
        </p:txBody>
      </p:sp>
      <p:sp>
        <p:nvSpPr>
          <p:cNvPr id="16" name="TextBox 15">
            <a:extLst>
              <a:ext uri="{FF2B5EF4-FFF2-40B4-BE49-F238E27FC236}">
                <a16:creationId xmlns:a16="http://schemas.microsoft.com/office/drawing/2014/main" id="{A043AD32-AF8E-902B-47F8-47C448CF7F22}"/>
              </a:ext>
            </a:extLst>
          </p:cNvPr>
          <p:cNvSpPr txBox="1"/>
          <p:nvPr/>
        </p:nvSpPr>
        <p:spPr>
          <a:xfrm>
            <a:off x="629920" y="1180385"/>
            <a:ext cx="10088880" cy="4708981"/>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000" dirty="0">
                <a:solidFill>
                  <a:schemeClr val="bg1"/>
                </a:solidFill>
                <a:latin typeface="Times New Roman" panose="02020603050405020304" pitchFamily="18" charset="0"/>
                <a:cs typeface="Times New Roman" panose="02020603050405020304" pitchFamily="18" charset="0"/>
              </a:rPr>
              <a:t>The Depression Detection in Social Media using Machine Learning project demonstrates how textual data can be effectively analyzed to identify signs of depression. </a:t>
            </a:r>
          </a:p>
          <a:p>
            <a:pPr marL="342900" indent="-342900" algn="just">
              <a:lnSpc>
                <a:spcPct val="150000"/>
              </a:lnSpc>
              <a:buFont typeface="Wingdings" panose="05000000000000000000" pitchFamily="2" charset="2"/>
              <a:buChar char="q"/>
            </a:pPr>
            <a:r>
              <a:rPr lang="en-US" sz="2000" dirty="0">
                <a:solidFill>
                  <a:schemeClr val="bg1"/>
                </a:solidFill>
                <a:latin typeface="Times New Roman" panose="02020603050405020304" pitchFamily="18" charset="0"/>
                <a:cs typeface="Times New Roman" panose="02020603050405020304" pitchFamily="18" charset="0"/>
              </a:rPr>
              <a:t>By applying preprocessing techniques, feature extraction methods, and classification algorithms, the system can distinguish between depressive and non-depressive content with reliable performance. </a:t>
            </a:r>
          </a:p>
          <a:p>
            <a:pPr marL="342900" indent="-342900" algn="just">
              <a:lnSpc>
                <a:spcPct val="150000"/>
              </a:lnSpc>
              <a:buFont typeface="Wingdings" panose="05000000000000000000" pitchFamily="2" charset="2"/>
              <a:buChar char="q"/>
            </a:pPr>
            <a:r>
              <a:rPr lang="en-US" sz="2000" dirty="0">
                <a:solidFill>
                  <a:schemeClr val="bg1"/>
                </a:solidFill>
                <a:latin typeface="Times New Roman" panose="02020603050405020304" pitchFamily="18" charset="0"/>
                <a:cs typeface="Times New Roman" panose="02020603050405020304" pitchFamily="18" charset="0"/>
              </a:rPr>
              <a:t>This approach highlights the potential of artificial intelligence in supporting mental health awareness and early identification. </a:t>
            </a:r>
          </a:p>
          <a:p>
            <a:pPr marL="342900" indent="-342900" algn="just">
              <a:lnSpc>
                <a:spcPct val="150000"/>
              </a:lnSpc>
              <a:buFont typeface="Wingdings" panose="05000000000000000000" pitchFamily="2" charset="2"/>
              <a:buChar char="q"/>
            </a:pPr>
            <a:r>
              <a:rPr lang="en-US" sz="2000" dirty="0">
                <a:solidFill>
                  <a:schemeClr val="bg1"/>
                </a:solidFill>
                <a:latin typeface="Times New Roman" panose="02020603050405020304" pitchFamily="18" charset="0"/>
                <a:cs typeface="Times New Roman" panose="02020603050405020304" pitchFamily="18" charset="0"/>
              </a:rPr>
              <a:t>Although it does not replace professional diagnosis, it can serve as a supportive tool for monitoring emotional patterns. Overall, the project shows that machine learning can play a meaningful role in addressing mental health challenges in digital environments.</a:t>
            </a:r>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FD4C618B-1123-838D-9B79-EF71D8681064}"/>
              </a:ext>
            </a:extLst>
          </p:cNvPr>
          <p:cNvSpPr txBox="1"/>
          <p:nvPr/>
        </p:nvSpPr>
        <p:spPr>
          <a:xfrm>
            <a:off x="3352800" y="501134"/>
            <a:ext cx="6096000" cy="646331"/>
          </a:xfrm>
          <a:prstGeom prst="rect">
            <a:avLst/>
          </a:prstGeom>
          <a:noFill/>
        </p:spPr>
        <p:txBody>
          <a:bodyPr wrap="square">
            <a:spAutoFit/>
          </a:bodyPr>
          <a:lstStyle/>
          <a:p>
            <a:pPr>
              <a:buNone/>
            </a:pPr>
            <a:r>
              <a:rPr lang="en-US" sz="3600" b="1" dirty="0">
                <a:solidFill>
                  <a:schemeClr val="accent1">
                    <a:lumMod val="60000"/>
                    <a:lumOff val="40000"/>
                  </a:schemeClr>
                </a:solidFill>
              </a:rPr>
              <a:t>REFERENCE</a:t>
            </a:r>
            <a:endParaRPr lang="en-US" sz="3200" b="1" dirty="0">
              <a:solidFill>
                <a:schemeClr val="accent1">
                  <a:lumMod val="60000"/>
                  <a:lumOff val="40000"/>
                </a:schemeClr>
              </a:solidFill>
            </a:endParaRPr>
          </a:p>
        </p:txBody>
      </p:sp>
      <p:sp>
        <p:nvSpPr>
          <p:cNvPr id="16" name="TextBox 15">
            <a:extLst>
              <a:ext uri="{FF2B5EF4-FFF2-40B4-BE49-F238E27FC236}">
                <a16:creationId xmlns:a16="http://schemas.microsoft.com/office/drawing/2014/main" id="{A043AD32-AF8E-902B-47F8-47C448CF7F22}"/>
              </a:ext>
            </a:extLst>
          </p:cNvPr>
          <p:cNvSpPr txBox="1"/>
          <p:nvPr/>
        </p:nvSpPr>
        <p:spPr>
          <a:xfrm>
            <a:off x="629920" y="1180385"/>
            <a:ext cx="10088880" cy="5224315"/>
          </a:xfrm>
          <a:prstGeom prst="rect">
            <a:avLst/>
          </a:prstGeom>
          <a:noFill/>
        </p:spPr>
        <p:txBody>
          <a:bodyPr wrap="square">
            <a:spAutoFit/>
          </a:bodyPr>
          <a:lstStyle/>
          <a:p>
            <a:pPr marL="457200" indent="-457200" algn="just">
              <a:lnSpc>
                <a:spcPct val="150000"/>
              </a:lnSpc>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K. </a:t>
            </a:r>
            <a:r>
              <a:rPr lang="en-US" sz="1400" dirty="0" err="1">
                <a:solidFill>
                  <a:schemeClr val="bg1"/>
                </a:solidFill>
                <a:latin typeface="Times New Roman" panose="02020603050405020304" pitchFamily="18" charset="0"/>
                <a:cs typeface="Times New Roman" panose="02020603050405020304" pitchFamily="18" charset="0"/>
              </a:rPr>
              <a:t>Poongodi</a:t>
            </a:r>
            <a:r>
              <a:rPr lang="en-US" sz="1400" dirty="0">
                <a:solidFill>
                  <a:schemeClr val="bg1"/>
                </a:solidFill>
                <a:latin typeface="Times New Roman" panose="02020603050405020304" pitchFamily="18" charset="0"/>
                <a:cs typeface="Times New Roman" panose="02020603050405020304" pitchFamily="18" charset="0"/>
              </a:rPr>
              <a:t>, R. A. </a:t>
            </a:r>
            <a:r>
              <a:rPr lang="en-US" sz="1400" dirty="0" err="1">
                <a:solidFill>
                  <a:schemeClr val="bg1"/>
                </a:solidFill>
                <a:latin typeface="Times New Roman" panose="02020603050405020304" pitchFamily="18" charset="0"/>
                <a:cs typeface="Times New Roman" panose="02020603050405020304" pitchFamily="18" charset="0"/>
              </a:rPr>
              <a:t>Nivesh</a:t>
            </a:r>
            <a:r>
              <a:rPr lang="en-US" sz="1400" dirty="0">
                <a:solidFill>
                  <a:schemeClr val="bg1"/>
                </a:solidFill>
                <a:latin typeface="Times New Roman" panose="02020603050405020304" pitchFamily="18" charset="0"/>
                <a:cs typeface="Times New Roman" panose="02020603050405020304" pitchFamily="18" charset="0"/>
              </a:rPr>
              <a:t>, J. Q. Blessed </a:t>
            </a:r>
            <a:r>
              <a:rPr lang="en-US" sz="1400" dirty="0" err="1">
                <a:solidFill>
                  <a:schemeClr val="bg1"/>
                </a:solidFill>
                <a:latin typeface="Times New Roman" panose="02020603050405020304" pitchFamily="18" charset="0"/>
                <a:cs typeface="Times New Roman" panose="02020603050405020304" pitchFamily="18" charset="0"/>
              </a:rPr>
              <a:t>Jeberson</a:t>
            </a:r>
            <a:r>
              <a:rPr lang="en-US" sz="1400" dirty="0">
                <a:solidFill>
                  <a:schemeClr val="bg1"/>
                </a:solidFill>
                <a:latin typeface="Times New Roman" panose="02020603050405020304" pitchFamily="18" charset="0"/>
                <a:cs typeface="Times New Roman" panose="02020603050405020304" pitchFamily="18" charset="0"/>
              </a:rPr>
              <a:t>, V. S. </a:t>
            </a:r>
            <a:r>
              <a:rPr lang="en-US" sz="1400" dirty="0" err="1">
                <a:solidFill>
                  <a:schemeClr val="bg1"/>
                </a:solidFill>
                <a:latin typeface="Times New Roman" panose="02020603050405020304" pitchFamily="18" charset="0"/>
                <a:cs typeface="Times New Roman" panose="02020603050405020304" pitchFamily="18" charset="0"/>
              </a:rPr>
              <a:t>Divakar</a:t>
            </a:r>
            <a:r>
              <a:rPr lang="en-US" sz="1400" dirty="0">
                <a:solidFill>
                  <a:schemeClr val="bg1"/>
                </a:solidFill>
                <a:latin typeface="Times New Roman" panose="02020603050405020304" pitchFamily="18" charset="0"/>
                <a:cs typeface="Times New Roman" panose="02020603050405020304" pitchFamily="18" charset="0"/>
              </a:rPr>
              <a:t> and S. </a:t>
            </a:r>
            <a:r>
              <a:rPr lang="en-US" sz="1400" dirty="0" err="1">
                <a:solidFill>
                  <a:schemeClr val="bg1"/>
                </a:solidFill>
                <a:latin typeface="Times New Roman" panose="02020603050405020304" pitchFamily="18" charset="0"/>
                <a:cs typeface="Times New Roman" panose="02020603050405020304" pitchFamily="18" charset="0"/>
              </a:rPr>
              <a:t>Gowshikan</a:t>
            </a:r>
            <a:r>
              <a:rPr lang="en-US" sz="1400" dirty="0">
                <a:solidFill>
                  <a:schemeClr val="bg1"/>
                </a:solidFill>
                <a:latin typeface="Times New Roman" panose="02020603050405020304" pitchFamily="18" charset="0"/>
                <a:cs typeface="Times New Roman" panose="02020603050405020304" pitchFamily="18" charset="0"/>
              </a:rPr>
              <a:t>, "Integrating Beck's Depression Inventory and Emotion Detection Using GAN for Comprehensive Depression Assessment and Intervention," 2024 2nd International Conference on Sustainable Computing and Smart Systems (ICSCSS), Coimbatore, India, 2024, pp. 1038-1046, </a:t>
            </a:r>
            <a:r>
              <a:rPr lang="en-US" sz="1400" dirty="0" err="1">
                <a:solidFill>
                  <a:schemeClr val="bg1"/>
                </a:solidFill>
                <a:latin typeface="Times New Roman" panose="02020603050405020304" pitchFamily="18" charset="0"/>
                <a:cs typeface="Times New Roman" panose="02020603050405020304" pitchFamily="18" charset="0"/>
              </a:rPr>
              <a:t>doi</a:t>
            </a:r>
            <a:r>
              <a:rPr lang="en-US" sz="1400" dirty="0">
                <a:solidFill>
                  <a:schemeClr val="bg1"/>
                </a:solidFill>
                <a:latin typeface="Times New Roman" panose="02020603050405020304" pitchFamily="18" charset="0"/>
                <a:cs typeface="Times New Roman" panose="02020603050405020304" pitchFamily="18" charset="0"/>
              </a:rPr>
              <a:t>: 10.1109/ICSCSS60660.2024.10625574.</a:t>
            </a:r>
          </a:p>
          <a:p>
            <a:pPr marL="457200" indent="-457200" algn="just">
              <a:lnSpc>
                <a:spcPct val="150000"/>
              </a:lnSpc>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M. Kang, S. Oh, K. Oh, S. Kang and Y. Lee, "The deep learning method for predict beck's depression inventory score using EEG," 2021 International Conference on Information and Communication Technology Convergence (ICTC), </a:t>
            </a:r>
            <a:r>
              <a:rPr lang="en-US" sz="1400" dirty="0" err="1">
                <a:solidFill>
                  <a:schemeClr val="bg1"/>
                </a:solidFill>
                <a:latin typeface="Times New Roman" panose="02020603050405020304" pitchFamily="18" charset="0"/>
                <a:cs typeface="Times New Roman" panose="02020603050405020304" pitchFamily="18" charset="0"/>
              </a:rPr>
              <a:t>Jeju</a:t>
            </a:r>
            <a:r>
              <a:rPr lang="en-US" sz="1400" dirty="0">
                <a:solidFill>
                  <a:schemeClr val="bg1"/>
                </a:solidFill>
                <a:latin typeface="Times New Roman" panose="02020603050405020304" pitchFamily="18" charset="0"/>
                <a:cs typeface="Times New Roman" panose="02020603050405020304" pitchFamily="18" charset="0"/>
              </a:rPr>
              <a:t> Island, Korea, Republic of, 2021, pp. 490-493, </a:t>
            </a:r>
            <a:r>
              <a:rPr lang="en-US" sz="1400" dirty="0" err="1">
                <a:solidFill>
                  <a:schemeClr val="bg1"/>
                </a:solidFill>
                <a:latin typeface="Times New Roman" panose="02020603050405020304" pitchFamily="18" charset="0"/>
                <a:cs typeface="Times New Roman" panose="02020603050405020304" pitchFamily="18" charset="0"/>
              </a:rPr>
              <a:t>doi</a:t>
            </a:r>
            <a:r>
              <a:rPr lang="en-US" sz="1400" dirty="0">
                <a:solidFill>
                  <a:schemeClr val="bg1"/>
                </a:solidFill>
                <a:latin typeface="Times New Roman" panose="02020603050405020304" pitchFamily="18" charset="0"/>
                <a:cs typeface="Times New Roman" panose="02020603050405020304" pitchFamily="18" charset="0"/>
              </a:rPr>
              <a:t>: 10.1109/ICTC52510.2021.9620922.</a:t>
            </a:r>
          </a:p>
          <a:p>
            <a:pPr marL="457200" indent="-457200" algn="just">
              <a:lnSpc>
                <a:spcPct val="150000"/>
              </a:lnSpc>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L. </a:t>
            </a:r>
            <a:r>
              <a:rPr lang="en-US" sz="1400" dirty="0" err="1">
                <a:solidFill>
                  <a:schemeClr val="bg1"/>
                </a:solidFill>
                <a:latin typeface="Times New Roman" panose="02020603050405020304" pitchFamily="18" charset="0"/>
                <a:cs typeface="Times New Roman" panose="02020603050405020304" pitchFamily="18" charset="0"/>
              </a:rPr>
              <a:t>Minkowski</a:t>
            </a:r>
            <a:r>
              <a:rPr lang="en-US" sz="1400" dirty="0">
                <a:solidFill>
                  <a:schemeClr val="bg1"/>
                </a:solidFill>
                <a:latin typeface="Times New Roman" panose="02020603050405020304" pitchFamily="18" charset="0"/>
                <a:cs typeface="Times New Roman" panose="02020603050405020304" pitchFamily="18" charset="0"/>
              </a:rPr>
              <a:t>, K. V. Mai and D. </a:t>
            </a:r>
            <a:r>
              <a:rPr lang="en-US" sz="1400" dirty="0" err="1">
                <a:solidFill>
                  <a:schemeClr val="bg1"/>
                </a:solidFill>
                <a:latin typeface="Times New Roman" panose="02020603050405020304" pitchFamily="18" charset="0"/>
                <a:cs typeface="Times New Roman" panose="02020603050405020304" pitchFamily="18" charset="0"/>
              </a:rPr>
              <a:t>Gurve</a:t>
            </a:r>
            <a:r>
              <a:rPr lang="en-US" sz="1400" dirty="0">
                <a:solidFill>
                  <a:schemeClr val="bg1"/>
                </a:solidFill>
                <a:latin typeface="Times New Roman" panose="02020603050405020304" pitchFamily="18" charset="0"/>
                <a:cs typeface="Times New Roman" panose="02020603050405020304" pitchFamily="18" charset="0"/>
              </a:rPr>
              <a:t>, "Feature Extraction to Identify Depression and Anxiety Based on EEG," 2021 43rd Annual International Conference of the IEEE Engineering in Medicine &amp; Biology Society (EMBC), Mexico, 2021, pp. 6322-6325, </a:t>
            </a:r>
            <a:r>
              <a:rPr lang="en-US" sz="1400" dirty="0" err="1">
                <a:solidFill>
                  <a:schemeClr val="bg1"/>
                </a:solidFill>
                <a:latin typeface="Times New Roman" panose="02020603050405020304" pitchFamily="18" charset="0"/>
                <a:cs typeface="Times New Roman" panose="02020603050405020304" pitchFamily="18" charset="0"/>
              </a:rPr>
              <a:t>doi</a:t>
            </a:r>
            <a:r>
              <a:rPr lang="en-US" sz="1400" dirty="0">
                <a:solidFill>
                  <a:schemeClr val="bg1"/>
                </a:solidFill>
                <a:latin typeface="Times New Roman" panose="02020603050405020304" pitchFamily="18" charset="0"/>
                <a:cs typeface="Times New Roman" panose="02020603050405020304" pitchFamily="18" charset="0"/>
              </a:rPr>
              <a:t>: 10.1109/EMBC46164.2021.9630821.</a:t>
            </a:r>
          </a:p>
          <a:p>
            <a:pPr marL="457200" indent="-457200" algn="just">
              <a:lnSpc>
                <a:spcPct val="150000"/>
              </a:lnSpc>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Z. Tao, S. Liu and B. Li, "Correlation Study of Frailty and Depression in elderly patients with Chronic Kidney Disease," 2021 11th International Conference on Information Technology in Medicine and Education (ITME), </a:t>
            </a:r>
            <a:r>
              <a:rPr lang="en-US" sz="1400" dirty="0" err="1">
                <a:solidFill>
                  <a:schemeClr val="bg1"/>
                </a:solidFill>
                <a:latin typeface="Times New Roman" panose="02020603050405020304" pitchFamily="18" charset="0"/>
                <a:cs typeface="Times New Roman" panose="02020603050405020304" pitchFamily="18" charset="0"/>
              </a:rPr>
              <a:t>Wuyishan</a:t>
            </a:r>
            <a:r>
              <a:rPr lang="en-US" sz="1400" dirty="0">
                <a:solidFill>
                  <a:schemeClr val="bg1"/>
                </a:solidFill>
                <a:latin typeface="Times New Roman" panose="02020603050405020304" pitchFamily="18" charset="0"/>
                <a:cs typeface="Times New Roman" panose="02020603050405020304" pitchFamily="18" charset="0"/>
              </a:rPr>
              <a:t>, Fujian, China, 2021, pp. 412-415, </a:t>
            </a:r>
            <a:r>
              <a:rPr lang="en-US" sz="1400" dirty="0" err="1">
                <a:solidFill>
                  <a:schemeClr val="bg1"/>
                </a:solidFill>
                <a:latin typeface="Times New Roman" panose="02020603050405020304" pitchFamily="18" charset="0"/>
                <a:cs typeface="Times New Roman" panose="02020603050405020304" pitchFamily="18" charset="0"/>
              </a:rPr>
              <a:t>doi</a:t>
            </a:r>
            <a:r>
              <a:rPr lang="en-US" sz="1400" dirty="0">
                <a:solidFill>
                  <a:schemeClr val="bg1"/>
                </a:solidFill>
                <a:latin typeface="Times New Roman" panose="02020603050405020304" pitchFamily="18" charset="0"/>
                <a:cs typeface="Times New Roman" panose="02020603050405020304" pitchFamily="18" charset="0"/>
              </a:rPr>
              <a:t>: 10.1109/ITME53901.2021.00089.</a:t>
            </a:r>
          </a:p>
          <a:p>
            <a:pPr marL="457200" indent="-457200" algn="just">
              <a:lnSpc>
                <a:spcPct val="150000"/>
              </a:lnSpc>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S. </a:t>
            </a:r>
            <a:r>
              <a:rPr lang="en-US" sz="1400" dirty="0" err="1">
                <a:solidFill>
                  <a:schemeClr val="bg1"/>
                </a:solidFill>
                <a:latin typeface="Times New Roman" panose="02020603050405020304" pitchFamily="18" charset="0"/>
                <a:cs typeface="Times New Roman" panose="02020603050405020304" pitchFamily="18" charset="0"/>
              </a:rPr>
              <a:t>Prabhudesai</a:t>
            </a:r>
            <a:r>
              <a:rPr lang="en-US" sz="1400" dirty="0">
                <a:solidFill>
                  <a:schemeClr val="bg1"/>
                </a:solidFill>
                <a:latin typeface="Times New Roman" panose="02020603050405020304" pitchFamily="18" charset="0"/>
                <a:cs typeface="Times New Roman" panose="02020603050405020304" pitchFamily="18" charset="0"/>
              </a:rPr>
              <a:t>, A. </a:t>
            </a:r>
            <a:r>
              <a:rPr lang="en-US" sz="1400" dirty="0" err="1">
                <a:solidFill>
                  <a:schemeClr val="bg1"/>
                </a:solidFill>
                <a:latin typeface="Times New Roman" panose="02020603050405020304" pitchFamily="18" charset="0"/>
                <a:cs typeface="Times New Roman" panose="02020603050405020304" pitchFamily="18" charset="0"/>
              </a:rPr>
              <a:t>Mhaske</a:t>
            </a:r>
            <a:r>
              <a:rPr lang="en-US" sz="1400" dirty="0">
                <a:solidFill>
                  <a:schemeClr val="bg1"/>
                </a:solidFill>
                <a:latin typeface="Times New Roman" panose="02020603050405020304" pitchFamily="18" charset="0"/>
                <a:cs typeface="Times New Roman" panose="02020603050405020304" pitchFamily="18" charset="0"/>
              </a:rPr>
              <a:t>, M. </a:t>
            </a:r>
            <a:r>
              <a:rPr lang="en-US" sz="1400" dirty="0" err="1">
                <a:solidFill>
                  <a:schemeClr val="bg1"/>
                </a:solidFill>
                <a:latin typeface="Times New Roman" panose="02020603050405020304" pitchFamily="18" charset="0"/>
                <a:cs typeface="Times New Roman" panose="02020603050405020304" pitchFamily="18" charset="0"/>
              </a:rPr>
              <a:t>Parmar</a:t>
            </a:r>
            <a:r>
              <a:rPr lang="en-US" sz="1400" dirty="0">
                <a:solidFill>
                  <a:schemeClr val="bg1"/>
                </a:solidFill>
                <a:latin typeface="Times New Roman" panose="02020603050405020304" pitchFamily="18" charset="0"/>
                <a:cs typeface="Times New Roman" panose="02020603050405020304" pitchFamily="18" charset="0"/>
              </a:rPr>
              <a:t> and S. Bhagwat, "Depression Detection and Analysis Using Deep Learning: Study and Comparative Analysis," 2021 10th IEEE International Conference on Communication Systems and Network Technologies (CSNT), Bhopal, India, 2021, pp. 570-574, </a:t>
            </a:r>
            <a:r>
              <a:rPr lang="en-US" sz="1400" dirty="0" err="1">
                <a:solidFill>
                  <a:schemeClr val="bg1"/>
                </a:solidFill>
                <a:latin typeface="Times New Roman" panose="02020603050405020304" pitchFamily="18" charset="0"/>
                <a:cs typeface="Times New Roman" panose="02020603050405020304" pitchFamily="18" charset="0"/>
              </a:rPr>
              <a:t>doi</a:t>
            </a:r>
            <a:r>
              <a:rPr lang="en-US" sz="1400" dirty="0">
                <a:solidFill>
                  <a:schemeClr val="bg1"/>
                </a:solidFill>
                <a:latin typeface="Times New Roman" panose="02020603050405020304" pitchFamily="18" charset="0"/>
                <a:cs typeface="Times New Roman" panose="02020603050405020304" pitchFamily="18" charset="0"/>
              </a:rPr>
              <a:t>: 10.1109/CSNT51715.2021.9509707.</a:t>
            </a:r>
          </a:p>
        </p:txBody>
      </p:sp>
    </p:spTree>
    <p:extLst>
      <p:ext uri="{BB962C8B-B14F-4D97-AF65-F5344CB8AC3E}">
        <p14:creationId xmlns:p14="http://schemas.microsoft.com/office/powerpoint/2010/main" val="2445320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6614242" y="3002280"/>
            <a:ext cx="4945598" cy="1243584"/>
          </a:xfrm>
        </p:spPr>
        <p:txBody>
          <a:bodyPr/>
          <a:lstStyle/>
          <a:p>
            <a:r>
              <a:rPr lang="en-US" dirty="0"/>
              <a:t>Thank You </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purl.org/dc/dcmitype/"/>
    <ds:schemaRef ds:uri="http://schemas.openxmlformats.org/package/2006/metadata/core-properties"/>
    <ds:schemaRef ds:uri="http://schemas.microsoft.com/office/2006/documentManagement/types"/>
    <ds:schemaRef ds:uri="http://purl.org/dc/elements/1.1/"/>
    <ds:schemaRef ds:uri="71af3243-3dd4-4a8d-8c0d-dd76da1f02a5"/>
    <ds:schemaRef ds:uri="http://www.w3.org/XML/1998/namespace"/>
    <ds:schemaRef ds:uri="http://purl.org/dc/terms/"/>
    <ds:schemaRef ds:uri="http://schemas.microsoft.com/office/infopath/2007/PartnerControls"/>
    <ds:schemaRef ds:uri="16c05727-aa75-4e4a-9b5f-8a80a1165891"/>
    <ds:schemaRef ds:uri="http://schemas.microsoft.com/office/2006/metadata/propertie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321</TotalTime>
  <Words>1154</Words>
  <Application>Microsoft Office PowerPoint</Application>
  <PresentationFormat>Widescreen</PresentationFormat>
  <Paragraphs>98</Paragraphs>
  <Slides>13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Aharoni</vt:lpstr>
      <vt:lpstr>Arial</vt:lpstr>
      <vt:lpstr>Calibri</vt:lpstr>
      <vt:lpstr>Segoe UI</vt:lpstr>
      <vt:lpstr>Times New Roman</vt:lpstr>
      <vt:lpstr>Trade Gothic LT Pro</vt:lpstr>
      <vt:lpstr>Trebuchet MS</vt:lpstr>
      <vt:lpstr>Wingdings</vt:lpstr>
      <vt:lpstr>Office Theme</vt:lpstr>
      <vt:lpstr>DEPRESSION DETECTION IN SOCIAL MEDIA USING MACHINE LEARNING</vt:lpstr>
      <vt:lpstr>Abstract</vt:lpstr>
      <vt:lpstr>Objectives</vt:lpstr>
      <vt:lpstr>PowerPoint Presentation</vt:lpstr>
      <vt:lpstr>PowerPoint Presentation</vt:lpstr>
      <vt:lpstr>PowerPoint Presentation</vt:lpstr>
      <vt:lpstr>PowerPoint Presentation</vt:lpstr>
      <vt:lpstr>PowerPoint Presentation</vt:lpstr>
      <vt:lpstr>Requirement Analysis</vt:lpstr>
      <vt:lpstr>PROJECT TIME LINE</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DEPRESSION DECTECTION IN SOCIAL MEDIA USING MACHINE LEARNING</dc:title>
  <dc:creator>Bharani Dharan</dc:creator>
  <cp:lastModifiedBy>S SANJAY</cp:lastModifiedBy>
  <cp:revision>15</cp:revision>
  <dcterms:created xsi:type="dcterms:W3CDTF">2026-02-13T05:55:54Z</dcterms:created>
  <dcterms:modified xsi:type="dcterms:W3CDTF">2026-04-02T09:54:34Z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